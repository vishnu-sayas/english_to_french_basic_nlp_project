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1005840"/>
            <a:ext cx="256032" cy="256032"/>
          </a:xfrm>
          <a:prstGeom prst="ellipse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1554480"/>
            <a:ext cx="164592" cy="164592"/>
          </a:xfrm>
          <a:prstGeom prst="ellipse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2468880"/>
            <a:ext cx="201168" cy="201168"/>
          </a:xfrm>
          <a:prstGeom prst="ellipse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2743200"/>
            <a:ext cx="274320" cy="274320"/>
          </a:xfrm>
          <a:prstGeom prst="ellipse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3657600"/>
            <a:ext cx="173736" cy="173736"/>
          </a:xfrm>
          <a:prstGeom prst="ellipse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206240"/>
            <a:ext cx="256032" cy="256032"/>
          </a:xfrm>
          <a:prstGeom prst="ellipse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0" y="5029200"/>
            <a:ext cx="164592" cy="164592"/>
          </a:xfrm>
          <a:prstGeom prst="ellipse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5486400"/>
            <a:ext cx="210312" cy="210312"/>
          </a:xfrm>
          <a:prstGeom prst="ellipse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658368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72084"/>
            <a:ext cx="15544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PROJECT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722376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800" b="1" i="0">
                <a:solidFill>
                  <a:srgbClr val="F5F8FF"/>
                </a:solidFill>
                <a:latin typeface="Aptos Display"/>
              </a:defRPr>
            </a:pPr>
            <a:r>
              <a:t>DEEP LEARNING</a:t>
            </a:r>
          </a:p>
          <a:p>
            <a:pPr algn="l">
              <a:spcAft>
                <a:spcPts val="700"/>
              </a:spcAft>
              <a:defRPr sz="3800" b="1" i="0">
                <a:solidFill>
                  <a:srgbClr val="F5F8FF"/>
                </a:solidFill>
                <a:latin typeface="Aptos Display"/>
              </a:defRPr>
            </a:pPr>
            <a:r>
              <a:t>AI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68580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100" b="0" i="0">
                <a:solidFill>
                  <a:srgbClr val="B7C2DD"/>
                </a:solidFill>
                <a:latin typeface="Aptos"/>
              </a:defRPr>
            </a:pPr>
            <a:r>
              <a:t>English → French Translation</a:t>
            </a:r>
          </a:p>
          <a:p>
            <a:pPr algn="l">
              <a:spcAft>
                <a:spcPts val="700"/>
              </a:spcAft>
              <a:defRPr sz="2100" b="0" i="0">
                <a:solidFill>
                  <a:srgbClr val="B7C2DD"/>
                </a:solidFill>
                <a:latin typeface="Aptos"/>
              </a:defRPr>
            </a:pPr>
            <a:r>
              <a:t>+ Multiclass Image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5303520" cy="73152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6766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46E1DC"/>
                </a:solidFill>
                <a:latin typeface="Aptos"/>
              </a:defRPr>
            </a:pPr>
            <a:r>
              <a:t>NLP  •  LSTM  •  Transformers  •  Sentence Embeddings  •  CNNs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GOOGLE COLAB  |  EXPERIMENT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One project. Two AI tasks. One evaluation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Keep the models modular so every technique has a clear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349240" cy="228600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64008" cy="228600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21992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F5F8FF"/>
                </a:solidFill>
                <a:latin typeface="Aptos"/>
              </a:defRPr>
            </a:pPr>
            <a:r>
              <a:t>01  NLP 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4965192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English–French sentence pairs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LSTM baseline + pretrained Transformer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BERT representations + multilingual sentence embeddings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Prompting experiment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349240" cy="228600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64008" cy="228600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800" b="1" i="0">
                <a:solidFill>
                  <a:srgbClr val="F5F8FF"/>
                </a:solidFill>
                <a:latin typeface="Aptos"/>
              </a:defRPr>
            </a:pPr>
            <a:r>
              <a:t>02  COMPUTER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97480"/>
            <a:ext cx="4965192" cy="1536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CIFAR-10 image dataset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CNN multiclass classifier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ReLU vs Leaky ReLU comparison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Softmax probabilities + classification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4800600"/>
            <a:ext cx="8275320" cy="77724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5010912"/>
            <a:ext cx="7909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COMPARE  •  QUALITY  •  SPEED  •  COMPUTE  • 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344168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125272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The 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Two independent pipelines feed into a shared experiment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64008" cy="123444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313432"/>
            <a:ext cx="2542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TEXT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88920"/>
            <a:ext cx="254203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English–French pairs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4884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148840"/>
            <a:ext cx="64008" cy="123444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313432"/>
            <a:ext cx="2542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IMAGE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788920"/>
            <a:ext cx="254203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CIFAR-10 • 10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64008" cy="123444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005072"/>
            <a:ext cx="2542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NLP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80560"/>
            <a:ext cx="254203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LSTM • Transformer • Embeddings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840480"/>
            <a:ext cx="292608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840480"/>
            <a:ext cx="64008" cy="123444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4005072"/>
            <a:ext cx="2542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VISION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4480560"/>
            <a:ext cx="254203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CNN • ReLU variants • Softmax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97180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9640" y="2971800"/>
            <a:ext cx="64008" cy="150876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8" y="3136392"/>
            <a:ext cx="25420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EXPERIMENT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3611880"/>
            <a:ext cx="254203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Metrics • latency • memory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training time • cost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03120" y="3401568"/>
            <a:ext cx="0" cy="402336"/>
          </a:xfrm>
          <a:prstGeom prst="line">
            <a:avLst/>
          </a:prstGeom>
          <a:ln w="25400">
            <a:solidFill>
              <a:srgbClr val="46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3401568"/>
            <a:ext cx="0" cy="402336"/>
          </a:xfrm>
          <a:prstGeom prst="line">
            <a:avLst/>
          </a:prstGeom>
          <a:ln w="25400">
            <a:solidFill>
              <a:srgbClr val="A3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611880" y="3749039"/>
            <a:ext cx="4846320" cy="685801"/>
          </a:xfrm>
          <a:prstGeom prst="line">
            <a:avLst/>
          </a:prstGeom>
          <a:ln w="25400">
            <a:solidFill>
              <a:srgbClr val="46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589520" y="3749039"/>
            <a:ext cx="868680" cy="685801"/>
          </a:xfrm>
          <a:prstGeom prst="line">
            <a:avLst/>
          </a:prstGeom>
          <a:ln w="25400">
            <a:solidFill>
              <a:srgbClr val="A3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English-to-French translation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A translation model learns to generate a target sequence from a source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2697480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11196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821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PAIRED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611880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English sentence ↔ French reference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78608" y="3456432"/>
            <a:ext cx="210312" cy="0"/>
          </a:xfrm>
          <a:prstGeom prst="line">
            <a:avLst/>
          </a:prstGeom>
          <a:ln w="12700">
            <a:solidFill>
              <a:srgbClr val="B7C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52928" y="251460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2697480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711196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821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11880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Normalize carefully • tokenize • IDs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28616" y="3456432"/>
            <a:ext cx="210312" cy="0"/>
          </a:xfrm>
          <a:prstGeom prst="line">
            <a:avLst/>
          </a:prstGeom>
          <a:ln w="12700">
            <a:solidFill>
              <a:srgbClr val="B7C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02936" y="251460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67527" y="2697480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7" y="2711196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7" y="31821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7" y="3611880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LSTM baseline / Transformer fine-tune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78623" y="3456432"/>
            <a:ext cx="210313" cy="0"/>
          </a:xfrm>
          <a:prstGeom prst="line">
            <a:avLst/>
          </a:prstGeom>
          <a:ln w="12700">
            <a:solidFill>
              <a:srgbClr val="B7C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52944" y="251460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17536" y="2697480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256" y="2711196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1821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3611880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Predict French tokens to end token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28632" y="3456432"/>
            <a:ext cx="210312" cy="0"/>
          </a:xfrm>
          <a:prstGeom prst="line">
            <a:avLst/>
          </a:prstGeom>
          <a:ln w="12700">
            <a:solidFill>
              <a:srgbClr val="B7C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02952" y="251460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67544" y="2697480"/>
            <a:ext cx="530352" cy="310896"/>
          </a:xfrm>
          <a:prstGeom prst="roundRect">
            <a:avLst>
              <a:gd name="adj" fmla="val 12000"/>
            </a:avLst>
          </a:prstGeom>
          <a:solidFill>
            <a:srgbClr val="69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3264" y="2711196"/>
            <a:ext cx="4389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7544" y="31821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44" y="3611880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BLEU • chrF • latency • examples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" y="4983480"/>
            <a:ext cx="10058400" cy="713232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175504"/>
            <a:ext cx="9692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Example: “I am learning deep learning.”  →  “J'apprends l'apprentissage profond.”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Text preprocessing: prepare data, don't erase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The exact steps depend on the tokenizer and model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64008" cy="256032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219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CLEAN &amp; 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3090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Check missing pairs and duplicates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Normalize whitespace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Preserve meaningful accents and punctuation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Split train / validation /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05740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057400"/>
            <a:ext cx="64008" cy="256032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TOKENIZE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97480"/>
            <a:ext cx="3090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Convert text into tokens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Map tokens to numerical IDs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Add special tokens where required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Pad / truncate batches carefully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474720" cy="25603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64008" cy="256032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MODEL 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97480"/>
            <a:ext cx="3090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LSTM: source and target sequences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Transformer: token IDs + masks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Prevent test-data leakage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Keep reference translations for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FCD69"/>
                </a:solidFill>
                <a:latin typeface="Aptos"/>
              </a:defRPr>
            </a:pPr>
            <a:r>
              <a:t>Key rule: use the tokenizer expected by the pretrained model; avoid aggressive cleaning that damages French contractions or accents.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LSTM: a recurrent translation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Useful for learning sequence modeling and comparing recurrent architectures with attention-based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64008" cy="246888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67712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286207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Reads the English tokens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Builds a representation of the source sequence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Embeddings turn token IDs into 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10312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2103120"/>
            <a:ext cx="64008" cy="246888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267712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LSTM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286207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Sigmoid gates control information flow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Tanh creates candidate/state values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Hidden state carries sequence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64008" cy="246888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267712"/>
            <a:ext cx="2862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743200"/>
            <a:ext cx="2862072" cy="1719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Predicts French tokens step by step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Training often uses teacher forcing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Generation stops at end-of-sequence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3246120"/>
            <a:ext cx="393193" cy="0"/>
          </a:xfrm>
          <a:prstGeom prst="line">
            <a:avLst/>
          </a:prstGeom>
          <a:ln w="25400">
            <a:solidFill>
              <a:srgbClr val="46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3246120"/>
            <a:ext cx="384048" cy="0"/>
          </a:xfrm>
          <a:prstGeom prst="line">
            <a:avLst/>
          </a:prstGeom>
          <a:ln w="25400">
            <a:solidFill>
              <a:srgbClr val="A3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5840" y="5074920"/>
            <a:ext cx="10149840" cy="59436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230368"/>
            <a:ext cx="9784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Trade-off: useful educational baseline, but long sequences and sequential computation can limit speed and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Transformer vs BERT: related, not interchangeable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Choose the architecture according to the job it needs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64008" cy="260604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677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ENCODER–DECODER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3136392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Primary translation model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Self-attention learns token relationships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Decoder generates the French sequence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Fine-tune a pretrained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031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64008" cy="260604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2677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BERT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743200"/>
            <a:ext cx="3136392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Contextual representations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Bidirectional context for understanding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Good for representation experiments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Not a standard translation generator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520440" cy="26060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103120"/>
            <a:ext cx="64008" cy="260604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2677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 i="0">
                <a:solidFill>
                  <a:srgbClr val="F5F8FF"/>
                </a:solidFill>
                <a:latin typeface="Aptos"/>
              </a:defRPr>
            </a:pPr>
            <a:r>
              <a:t>SENTENCE 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743200"/>
            <a:ext cx="3136392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Sentence-level embeddings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Compare English and French meaning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Use a multilingual model</a:t>
            </a:r>
          </a:p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Cosine similarity /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FCD69"/>
                </a:solidFill>
                <a:latin typeface="Aptos"/>
              </a:defRPr>
            </a:pPr>
            <a:r>
              <a:t>Colab strategy: fine-tune a pretrained translation model rather than train a large Transformer from scratch.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Semantic similarity and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Evaluate meaning and translation generation as separate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64008" cy="237744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221992"/>
            <a:ext cx="49194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COSINE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4919472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sim(A,B) = (A · B) / (||A|| ||B||)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Measures directional alignment of embedding vectors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Higher often means more semantically similar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Cosine distance = 1 − cosine 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303520" cy="2377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64008" cy="237744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49194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PROMPTING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97480"/>
            <a:ext cx="4919472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Zero-shot: instruction only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Few-shot: instruction + example pairs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Fine-tuned model: learned from training pairs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B7C2DD"/>
                </a:solidFill>
                <a:latin typeface="Aptos"/>
              </a:defRPr>
            </a:pPr>
            <a:r>
              <a:t>Compare quality, latency and resource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892040"/>
            <a:ext cx="10241280" cy="713232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74920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300" b="1" i="0">
                <a:solidFill>
                  <a:srgbClr val="F5F8FF"/>
                </a:solidFill>
                <a:latin typeface="Aptos"/>
              </a:defRPr>
            </a:pPr>
            <a:r>
              <a:t>Use BLEU / chrF for translation evaluation; sentence similarity is complementary, not a replacement.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MODULE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Multiclass image classification with CIFAR-10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A compact dataset for demonstrating a CNN, activation functions and softmax.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2104" y="2377440"/>
            <a:ext cx="201168" cy="201168"/>
          </a:xfrm>
          <a:prstGeom prst="ellipse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340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Airplane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0088" y="2148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6392" y="2377440"/>
            <a:ext cx="201168" cy="201168"/>
          </a:xfrm>
          <a:prstGeom prst="ellipse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576" y="2340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Automobile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4376" y="2148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40680" y="2377440"/>
            <a:ext cx="201168" cy="201168"/>
          </a:xfrm>
          <a:prstGeom prst="ellipse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9864" y="2340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Bird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98664" y="2148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4968" y="2377440"/>
            <a:ext cx="201168" cy="201168"/>
          </a:xfrm>
          <a:prstGeom prst="ellipse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2340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2952" y="2148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49256" y="2377440"/>
            <a:ext cx="201168" cy="201168"/>
          </a:xfrm>
          <a:prstGeom prst="ellipse">
            <a:avLst/>
          </a:prstGeom>
          <a:solidFill>
            <a:srgbClr val="69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2340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Deer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91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" y="3520440"/>
            <a:ext cx="201168" cy="201168"/>
          </a:xfrm>
          <a:prstGeom prst="ellipse">
            <a:avLst/>
          </a:prstGeom>
          <a:solidFill>
            <a:srgbClr val="FFC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483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Dog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0088" y="3291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36392" y="3520440"/>
            <a:ext cx="201168" cy="201168"/>
          </a:xfrm>
          <a:prstGeom prst="ellipse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65576" y="3483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Frog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4376" y="3291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40680" y="3520440"/>
            <a:ext cx="201168" cy="201168"/>
          </a:xfrm>
          <a:prstGeom prst="ellipse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9864" y="3483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Horse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98664" y="3291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44968" y="3520440"/>
            <a:ext cx="201168" cy="201168"/>
          </a:xfrm>
          <a:prstGeom prst="ellipse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3483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Ship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2952" y="3291840"/>
            <a:ext cx="2011680" cy="749808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49256" y="3520440"/>
            <a:ext cx="201168" cy="201168"/>
          </a:xfrm>
          <a:prstGeom prst="ellipse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3483864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983480"/>
            <a:ext cx="10332720" cy="73152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184648"/>
            <a:ext cx="9966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Pipeline: image pixels → normalization → CNN features → dense layer → 10-class softmax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Activation functions: use each where it belongs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Compare controlled alternatives rather than combining every function in one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93392"/>
            <a:ext cx="1828800" cy="530352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46E1DC"/>
                </a:solidFill>
                <a:latin typeface="Aptos"/>
              </a:defRPr>
            </a:pPr>
            <a:r>
              <a:t>ReLU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10312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CNN hidden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max(0,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5F8FF"/>
                </a:solidFill>
                <a:latin typeface="Aptos"/>
              </a:defRPr>
            </a:pPr>
            <a:r>
              <a:t>Simple nonlinear feature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88336"/>
            <a:ext cx="1828800" cy="530352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98064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A373FF"/>
                </a:solidFill>
                <a:latin typeface="Aptos"/>
              </a:defRPr>
            </a:pPr>
            <a:r>
              <a:t>Leaky ReLU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798064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Alternative CNN hidden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98064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x if x &gt; 0, else αx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98064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5F8FF"/>
                </a:solidFill>
                <a:latin typeface="Aptos"/>
              </a:defRPr>
            </a:pPr>
            <a:r>
              <a:t>Keeps a small negative slope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1828800" cy="530352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93008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FF71B5"/>
                </a:solidFill>
                <a:latin typeface="Aptos"/>
              </a:defRPr>
            </a:pPr>
            <a:r>
              <a:t>Sigmoid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493008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LSTM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49300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1 / (1 + e⁻ˣ)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493008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5F8FF"/>
                </a:solidFill>
                <a:latin typeface="Aptos"/>
              </a:defRPr>
            </a:pPr>
            <a:r>
              <a:t>Gate value between 0 and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78224"/>
            <a:ext cx="1828800" cy="530352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87952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5B9CFF"/>
                </a:solidFill>
                <a:latin typeface="Aptos"/>
              </a:defRPr>
            </a:pPr>
            <a:r>
              <a:t>Tanh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18795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LSTM state calculations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187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(eˣ − e⁻ˣ)/(eˣ + e⁻ˣ)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5F8FF"/>
                </a:solidFill>
                <a:latin typeface="Aptos"/>
              </a:defRPr>
            </a:pPr>
            <a:r>
              <a:t>State values between −1 and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73168"/>
            <a:ext cx="1828800" cy="530352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82896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69E6A8"/>
                </a:solidFill>
                <a:latin typeface="Aptos"/>
              </a:defRPr>
            </a:pPr>
            <a:r>
              <a:t>Softmax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882896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10-class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882896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B7C2DD"/>
                </a:solidFill>
                <a:latin typeface="Aptos"/>
              </a:defRPr>
            </a:pPr>
            <a:r>
              <a:t>exp(zᵢ) / Σ exp(zⱼ)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882896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0" i="0">
                <a:solidFill>
                  <a:srgbClr val="F5F8FF"/>
                </a:solidFill>
                <a:latin typeface="Aptos"/>
              </a:defRPr>
            </a:pPr>
            <a:r>
              <a:t>Class probabilities sum to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10972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Measure quality, speed,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Record real measurements from your own Colab runs; don't assume results in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46E1DC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3931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46E1DC"/>
                </a:solidFill>
                <a:latin typeface="Aptos"/>
              </a:defRPr>
            </a:pPr>
            <a:r>
              <a:t>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11680"/>
            <a:ext cx="4297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46E1DC"/>
                </a:solidFill>
                <a:latin typeface="Aptos"/>
              </a:defRPr>
            </a:pPr>
            <a:r>
              <a:t>IMAGE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8880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51176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51176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BLEU, chrF, sample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551176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Accuracy, precision, recall,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35808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1810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Training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118104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Minutes /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118104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Minutes /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02736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850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Inference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685032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Milliseconds / sentence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685032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Milliseconds /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9664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251960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GPU, RAM, peak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251960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GPU, RAM, peak memory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36592"/>
            <a:ext cx="10835640" cy="45720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1888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200" b="1" i="0">
                <a:solidFill>
                  <a:srgbClr val="F5F8FF"/>
                </a:solidFill>
                <a:latin typeface="Aptos"/>
              </a:defRPr>
            </a:pPr>
            <a:r>
              <a:t>Compute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818888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Actual charge or stated rate estimate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818888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Actual charge or stated rate estimate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FCD69"/>
                </a:solidFill>
                <a:latin typeface="Aptos"/>
              </a:defRPr>
            </a:pPr>
            <a:r>
              <a:t>Fair comparison: same test set • warm-up before timing • report batch size • record hardware and model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05840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1440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Build in this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Validate each stage before moving to the next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23444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01  Setup +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974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GPU check • libraries • dataset splits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574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057400"/>
            <a:ext cx="64008" cy="123444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02  CNN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6974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CIFAR-10 • ReLU • softmax •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0574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2057400"/>
            <a:ext cx="64008" cy="123444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03  LSTM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6974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Tokenization • encoder–decoder • 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657600"/>
            <a:ext cx="64008" cy="1234440"/>
          </a:xfrm>
          <a:prstGeom prst="rect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822191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04  Transformer fine-tune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976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Pretrained translation model • BLEU / chrF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657600"/>
            <a:ext cx="64008" cy="1234440"/>
          </a:xfrm>
          <a:prstGeom prst="rect">
            <a:avLst/>
          </a:prstGeom>
          <a:solidFill>
            <a:srgbClr val="69E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822191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05  BERT +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2976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Multilingual embeddings • cosine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65760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657600"/>
            <a:ext cx="64008" cy="1234440"/>
          </a:xfrm>
          <a:prstGeom prst="rect">
            <a:avLst/>
          </a:prstGeom>
          <a:solidFill>
            <a:srgbClr val="FFC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822191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500" b="1" i="0">
                <a:solidFill>
                  <a:srgbClr val="F5F8FF"/>
                </a:solidFill>
                <a:latin typeface="Aptos"/>
              </a:defRPr>
            </a:pPr>
            <a:r>
              <a:t>06  Prompting +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297680"/>
            <a:ext cx="30449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B7C2DD"/>
                </a:solidFill>
                <a:latin typeface="Aptos"/>
              </a:defRPr>
            </a:pPr>
            <a:r>
              <a:t>Zero / few-shot • latency • cost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033272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94183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Experiment log: capture evidence, not guesses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Use one row per model run and preserve the configuration for reproducibility.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DATA /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4884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1325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48840"/>
            <a:ext cx="1417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TRAIN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1" i="0">
                <a:solidFill>
                  <a:srgbClr val="46E1DC"/>
                </a:solidFill>
                <a:latin typeface="Aptos"/>
              </a:defRPr>
            </a:pPr>
            <a:r>
              <a:t>COST /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06040"/>
            <a:ext cx="10881360" cy="512064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2491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CNN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72491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Fixed test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2724912"/>
            <a:ext cx="143560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724912"/>
            <a:ext cx="12527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6136" y="2724912"/>
            <a:ext cx="1344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5" y="272491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Record actual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0881360" cy="512064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36499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9776" y="336499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Fixed test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6" y="3364991"/>
            <a:ext cx="143560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364991"/>
            <a:ext cx="12527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3364991"/>
            <a:ext cx="1344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336499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Record actual values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86200"/>
            <a:ext cx="10881360" cy="512064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00507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9776" y="400507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Fixed test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4005072"/>
            <a:ext cx="143560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4005072"/>
            <a:ext cx="12527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6136" y="4005072"/>
            <a:ext cx="1344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5" y="4005072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Record actual values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526279"/>
            <a:ext cx="10881360" cy="512064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64515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Prompt baseline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464515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Fixed test 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7176" y="4645151"/>
            <a:ext cx="143560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4645151"/>
            <a:ext cx="12527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6136" y="4645151"/>
            <a:ext cx="13441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To measure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5" y="4645151"/>
            <a:ext cx="1847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000" b="0" i="0">
                <a:solidFill>
                  <a:srgbClr val="B7C2DD"/>
                </a:solidFill>
                <a:latin typeface="Aptos"/>
              </a:defRPr>
            </a:pPr>
            <a:r>
              <a:t>Record actual values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40680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1" i="0">
                <a:solidFill>
                  <a:srgbClr val="FFCD69"/>
                </a:solidFill>
                <a:latin typeface="Aptos"/>
              </a:defRPr>
            </a:pPr>
            <a:r>
              <a:t>Record: random seed • model checkpoint • epochs • batch size • hardware • library versions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266444" cy="310896"/>
          </a:xfrm>
          <a:prstGeom prst="roundRect">
            <a:avLst>
              <a:gd name="adj" fmla="val 12000"/>
            </a:avLst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97764"/>
            <a:ext cx="1175004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700"/>
              </a:spcAft>
              <a:defRPr sz="1000" b="1" i="0">
                <a:solidFill>
                  <a:srgbClr val="0D1226"/>
                </a:solidFill>
                <a:latin typeface="Aptos"/>
              </a:defRPr>
            </a:pPr>
            <a:r>
              <a:t>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800" b="1" i="0">
                <a:solidFill>
                  <a:srgbClr val="F5F8FF"/>
                </a:solidFill>
                <a:latin typeface="Aptos Display"/>
              </a:defRPr>
            </a:pPr>
            <a:r>
              <a:t>What the finished project will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A practical, explainable project rather than a collection of disconnected buzzwords.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 i="0">
                <a:solidFill>
                  <a:srgbClr val="B7C2D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10528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DEEP LEARNING AI LAB  •  PROJECT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700"/>
              </a:spcAft>
              <a:defRPr sz="800" b="0" i="0">
                <a:solidFill>
                  <a:srgbClr val="B7C2D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2331720"/>
          </a:xfrm>
          <a:prstGeom prst="rect">
            <a:avLst/>
          </a:prstGeom>
          <a:solidFill>
            <a:srgbClr val="46E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974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NLP preprocessing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LSTM and Transformer architectures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BERT vs sentence embeddings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Activation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64008" cy="2331720"/>
          </a:xfrm>
          <a:prstGeom prst="rect">
            <a:avLst/>
          </a:prstGeom>
          <a:solidFill>
            <a:srgbClr val="A3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974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English–French translation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CIFAR-10 multiclass CNN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Cosine similarity experiments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Prompting baselines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71F3D"/>
          </a:solidFill>
          <a:ln w="12700">
            <a:solidFill>
              <a:srgbClr val="1E2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64008" cy="2331720"/>
          </a:xfrm>
          <a:prstGeom prst="rect">
            <a:avLst/>
          </a:prstGeom>
          <a:solidFill>
            <a:srgbClr val="FF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F5F8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974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Translation quality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Image classification metrics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Inference speed and training time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B7C2DD"/>
                </a:solidFill>
                <a:latin typeface="Aptos"/>
              </a:defRPr>
            </a:pPr>
            <a:r>
              <a:t>Resource usage and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983480"/>
            <a:ext cx="10241280" cy="731520"/>
          </a:xfrm>
          <a:prstGeom prst="roundRect">
            <a:avLst>
              <a:gd name="adj" fmla="val 12000"/>
            </a:avLst>
          </a:prstGeom>
          <a:solidFill>
            <a:srgbClr val="1E2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193792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400" b="1" i="0">
                <a:solidFill>
                  <a:srgbClr val="F5F8FF"/>
                </a:solidFill>
                <a:latin typeface="Aptos"/>
              </a:defRPr>
            </a:pPr>
            <a:r>
              <a:t>Next step: implement the Colab notebook section by section, starting with setup and data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